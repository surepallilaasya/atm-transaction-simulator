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libri (MS) Bold" charset="1" panose="020F0702030404030204"/>
      <p:regular r:id="rId24"/>
    </p:embeddedFont>
    <p:embeddedFont>
      <p:font typeface="Gagalin" charset="1" panose="00000500000000000000"/>
      <p:regular r:id="rId25"/>
    </p:embeddedFont>
    <p:embeddedFont>
      <p:font typeface="Georgia Bold" charset="1" panose="02040802050405020203"/>
      <p:regular r:id="rId26"/>
    </p:embeddedFont>
    <p:embeddedFont>
      <p:font typeface="Calibri (MS)" charset="1" panose="020F0502020204030204"/>
      <p:regular r:id="rId27"/>
    </p:embeddedFont>
    <p:embeddedFont>
      <p:font typeface="Cormorant Garamond Bold" charset="1" panose="00000800000000000000"/>
      <p:regular r:id="rId28"/>
    </p:embeddedFont>
    <p:embeddedFont>
      <p:font typeface="Calibri (MS) Italics" charset="1" panose="020F05020202040A0204"/>
      <p:regular r:id="rId30"/>
    </p:embeddedFont>
    <p:embeddedFont>
      <p:font typeface="Glacial Indifference Bold" charset="1" panose="00000800000000000000"/>
      <p:regular r:id="rId31"/>
    </p:embeddedFont>
    <p:embeddedFont>
      <p:font typeface="Georgia" charset="1" panose="02040502050405020303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36" Target="notesSlides/notesSlide7.xml" Type="http://schemas.openxmlformats.org/officeDocument/2006/relationships/notesSlide"/><Relationship Id="rId37" Target="notesSlides/notesSlide8.xml" Type="http://schemas.openxmlformats.org/officeDocument/2006/relationships/notesSlide"/><Relationship Id="rId38" Target="notesSlides/notesSlide9.xml" Type="http://schemas.openxmlformats.org/officeDocument/2006/relationships/notesSlide"/><Relationship Id="rId39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1.xml" Type="http://schemas.openxmlformats.org/officeDocument/2006/relationships/notesSlide"/><Relationship Id="rId41" Target="notesSlides/notesSlide12.xml" Type="http://schemas.openxmlformats.org/officeDocument/2006/relationships/notesSlide"/><Relationship Id="rId42" Target="notesSlides/notesSlide13.xml" Type="http://schemas.openxmlformats.org/officeDocument/2006/relationships/notesSlide"/><Relationship Id="rId43" Target="notesSlides/notesSlide14.xml" Type="http://schemas.openxmlformats.org/officeDocument/2006/relationships/notesSlide"/><Relationship Id="rId44" Target="notesSlides/notesSlide15.xml" Type="http://schemas.openxmlformats.org/officeDocument/2006/relationships/notesSlide"/><Relationship Id="rId45" Target="fonts/font45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4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7715" y="-9525"/>
            <a:ext cx="6095238" cy="10306050"/>
            <a:chOff x="0" y="0"/>
            <a:chExt cx="8126984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698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8126984">
                  <a:moveTo>
                    <a:pt x="0" y="0"/>
                  </a:moveTo>
                  <a:lnTo>
                    <a:pt x="8126984" y="0"/>
                  </a:lnTo>
                  <a:lnTo>
                    <a:pt x="812698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E6CFA7"/>
            </a:solidFill>
            <a:ln w="19050" cap="sq">
              <a:solidFill>
                <a:srgbClr val="E6CFA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2057400"/>
            <a:ext cx="10287000" cy="548640"/>
            <a:chOff x="0" y="0"/>
            <a:chExt cx="1371600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3716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599">
                  <a:solidFill>
                    <a:srgbClr val="E6CF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JAVA PROGRAMMING  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34440" y="2870835"/>
            <a:ext cx="10698480" cy="246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>
                <a:solidFill>
                  <a:srgbClr val="E6CFA7"/>
                </a:solidFill>
                <a:latin typeface="Gagalin"/>
                <a:ea typeface="Gagalin"/>
                <a:cs typeface="Gagalin"/>
                <a:sym typeface="Gagalin"/>
              </a:rPr>
              <a:t>ATM Transaction</a:t>
            </a:r>
          </a:p>
          <a:p>
            <a:pPr algn="l">
              <a:lnSpc>
                <a:spcPts val="9720"/>
              </a:lnSpc>
            </a:pPr>
            <a:r>
              <a:rPr lang="en-US" sz="8100">
                <a:solidFill>
                  <a:srgbClr val="E6CFA7"/>
                </a:solidFill>
                <a:latin typeface="Gagalin"/>
                <a:ea typeface="Gagalin"/>
                <a:cs typeface="Gagalin"/>
                <a:sym typeface="Gagalin"/>
              </a:rPr>
              <a:t>Simulator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755880" y="1645920"/>
            <a:ext cx="4937760" cy="1303020"/>
            <a:chOff x="0" y="0"/>
            <a:chExt cx="6583680" cy="1737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836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38" r="0" b="-2383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6583680" cy="1746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sz="8100" b="true">
                  <a:solidFill>
                    <a:srgbClr val="3A4B41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755880" y="2948940"/>
            <a:ext cx="4937760" cy="548640"/>
            <a:chOff x="0" y="0"/>
            <a:chExt cx="658368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583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A4B4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Course-outcome modules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55880" y="4183380"/>
            <a:ext cx="4937760" cy="1303020"/>
            <a:chOff x="0" y="0"/>
            <a:chExt cx="6583680" cy="1737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836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38" r="0" b="-2383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6583680" cy="1746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sz="8100" b="true">
                  <a:solidFill>
                    <a:srgbClr val="3A4B41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755880" y="5486400"/>
            <a:ext cx="4937760" cy="548640"/>
            <a:chOff x="0" y="0"/>
            <a:chExt cx="658368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583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A4B4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Menu operations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755880" y="6720840"/>
            <a:ext cx="4937760" cy="1303020"/>
            <a:chOff x="0" y="0"/>
            <a:chExt cx="6583680" cy="1737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836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38" r="0" b="-2383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6583680" cy="1746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sz="8100" b="true">
                  <a:solidFill>
                    <a:srgbClr val="3A4B41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755880" y="8023860"/>
            <a:ext cx="4937760" cy="548640"/>
            <a:chOff x="0" y="0"/>
            <a:chExt cx="658368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583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A4B4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Text file record store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6687800" y="9540240"/>
            <a:ext cx="77724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E6CFA7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6035040"/>
            <a:ext cx="5281937" cy="1754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7"/>
              </a:lnSpc>
            </a:pPr>
            <a:r>
              <a:rPr lang="en-US" sz="3872" b="true">
                <a:solidFill>
                  <a:srgbClr val="E6CFA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Student Name: Laasya  Roll No: 2620030160</a:t>
            </a:r>
          </a:p>
          <a:p>
            <a:pPr algn="ctr">
              <a:lnSpc>
                <a:spcPts val="464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246888"/>
            <a:chOff x="0" y="0"/>
            <a:chExt cx="24377904" cy="3291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329184"/>
            </a:xfrm>
            <a:custGeom>
              <a:avLst/>
              <a:gdLst/>
              <a:ahLst/>
              <a:cxnLst/>
              <a:rect r="r" b="b" t="t" l="l"/>
              <a:pathLst>
                <a:path h="329184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3A4B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46888"/>
            <a:ext cx="18283428" cy="68580"/>
            <a:chOff x="0" y="0"/>
            <a:chExt cx="24377904" cy="91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91440"/>
            </a:xfrm>
            <a:custGeom>
              <a:avLst/>
              <a:gdLst/>
              <a:ahLst/>
              <a:cxnLst/>
              <a:rect r="r" b="b" t="t" l="l"/>
              <a:pathLst>
                <a:path h="9144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CFA7"/>
            </a:solidFill>
          </p:spPr>
        </p:sp>
      </p:grpSp>
      <p:sp>
        <p:nvSpPr>
          <p:cNvPr name="AutoShape 6" id="6"/>
          <p:cNvSpPr/>
          <p:nvPr/>
        </p:nvSpPr>
        <p:spPr>
          <a:xfrm rot="3960">
            <a:off x="813425" y="9527857"/>
            <a:ext cx="16656568" cy="0"/>
          </a:xfrm>
          <a:prstGeom prst="line">
            <a:avLst/>
          </a:prstGeom>
          <a:ln cap="rnd" w="9525">
            <a:solidFill>
              <a:srgbClr val="E6CFA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822960" y="9601200"/>
            <a:ext cx="6858000" cy="411480"/>
            <a:chOff x="0" y="0"/>
            <a:chExt cx="91440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F85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ATM Transaction Simulator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685800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B886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OVERVIEW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3431" y="730764"/>
            <a:ext cx="16637508" cy="1900041"/>
            <a:chOff x="0" y="0"/>
            <a:chExt cx="22183344" cy="25333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83344" cy="2533388"/>
            </a:xfrm>
            <a:custGeom>
              <a:avLst/>
              <a:gdLst/>
              <a:ahLst/>
              <a:cxnLst/>
              <a:rect r="r" b="b" t="t" l="l"/>
              <a:pathLst>
                <a:path h="2533388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2533388"/>
                  </a:lnTo>
                  <a:lnTo>
                    <a:pt x="0" y="2533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548" r="0" b="-9768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2183344" cy="2533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99"/>
                </a:lnSpc>
              </a:pPr>
              <a:r>
                <a:rPr lang="en-US" sz="5999">
                  <a:solidFill>
                    <a:srgbClr val="3A4B41"/>
                  </a:solidFill>
                  <a:latin typeface="Gagalin"/>
                  <a:ea typeface="Gagalin"/>
                  <a:cs typeface="Gagalin"/>
                  <a:sym typeface="Gagalin"/>
                </a:rPr>
                <a:t>Abstract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2194560"/>
            <a:ext cx="16459200" cy="548640"/>
            <a:chOff x="0" y="0"/>
            <a:chExt cx="219456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1945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6F85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menu-driven Java application that simulates common ATM banking transactions and records account activity.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13435" y="3145155"/>
            <a:ext cx="8180070" cy="4545330"/>
            <a:chOff x="0" y="0"/>
            <a:chExt cx="10906760" cy="6060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06760" cy="6060440"/>
            </a:xfrm>
            <a:custGeom>
              <a:avLst/>
              <a:gdLst/>
              <a:ahLst/>
              <a:cxnLst/>
              <a:rect r="r" b="b" t="t" l="l"/>
              <a:pathLst>
                <a:path h="6060440" w="10906760">
                  <a:moveTo>
                    <a:pt x="0" y="0"/>
                  </a:moveTo>
                  <a:lnTo>
                    <a:pt x="10906760" y="0"/>
                  </a:lnTo>
                  <a:lnTo>
                    <a:pt x="10906760" y="6060440"/>
                  </a:lnTo>
                  <a:lnTo>
                    <a:pt x="0" y="6060440"/>
                  </a:lnTo>
                  <a:close/>
                </a:path>
              </a:pathLst>
            </a:custGeom>
            <a:solidFill>
              <a:srgbClr val="F0E3C6"/>
            </a:solidFill>
            <a:ln w="19050" cap="sq">
              <a:solidFill>
                <a:srgbClr val="E6CFA7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813435" y="3145155"/>
            <a:ext cx="142494" cy="4545330"/>
            <a:chOff x="0" y="0"/>
            <a:chExt cx="189992" cy="6060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9992" cy="6060440"/>
            </a:xfrm>
            <a:custGeom>
              <a:avLst/>
              <a:gdLst/>
              <a:ahLst/>
              <a:cxnLst/>
              <a:rect r="r" b="b" t="t" l="l"/>
              <a:pathLst>
                <a:path h="6060440" w="189992">
                  <a:moveTo>
                    <a:pt x="0" y="0"/>
                  </a:moveTo>
                  <a:lnTo>
                    <a:pt x="189992" y="0"/>
                  </a:lnTo>
                  <a:lnTo>
                    <a:pt x="189992" y="6060440"/>
                  </a:lnTo>
                  <a:lnTo>
                    <a:pt x="0" y="6060440"/>
                  </a:lnTo>
                  <a:close/>
                </a:path>
              </a:pathLst>
            </a:custGeom>
            <a:solidFill>
              <a:srgbClr val="3A4B41"/>
            </a:solidFill>
            <a:ln w="19050" cap="sq">
              <a:solidFill>
                <a:srgbClr val="3A4B41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03020" y="3456432"/>
            <a:ext cx="7338060" cy="593107"/>
            <a:chOff x="0" y="0"/>
            <a:chExt cx="9784080" cy="7908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84080" cy="790809"/>
            </a:xfrm>
            <a:custGeom>
              <a:avLst/>
              <a:gdLst/>
              <a:ahLst/>
              <a:cxnLst/>
              <a:rect r="r" b="b" t="t" l="l"/>
              <a:pathLst>
                <a:path h="790809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790809"/>
                  </a:lnTo>
                  <a:lnTo>
                    <a:pt x="0" y="7908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603" r="0" b="-18154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9784080" cy="8479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39"/>
                </a:lnSpc>
              </a:pPr>
              <a:r>
                <a:rPr lang="en-US" b="true" sz="2949" spc="453">
                  <a:solidFill>
                    <a:srgbClr val="B886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THE SYSTEM DOES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03020" y="4057650"/>
            <a:ext cx="7269480" cy="224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>
                <a:solidFill>
                  <a:srgbClr val="2A362F"/>
                </a:solidFill>
                <a:latin typeface="Calibri (MS)"/>
                <a:ea typeface="Calibri (MS)"/>
                <a:cs typeface="Calibri (MS)"/>
                <a:sym typeface="Calibri (MS)"/>
              </a:rPr>
              <a:t>The ATM simulator lets users check their balance, deposit and withdraw money, review transaction history, search and sort transactions, generate reports, and read saved records.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289923" y="3145155"/>
            <a:ext cx="8180070" cy="4545330"/>
            <a:chOff x="0" y="0"/>
            <a:chExt cx="10906760" cy="60604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06760" cy="6060440"/>
            </a:xfrm>
            <a:custGeom>
              <a:avLst/>
              <a:gdLst/>
              <a:ahLst/>
              <a:cxnLst/>
              <a:rect r="r" b="b" t="t" l="l"/>
              <a:pathLst>
                <a:path h="6060440" w="10906760">
                  <a:moveTo>
                    <a:pt x="0" y="0"/>
                  </a:moveTo>
                  <a:lnTo>
                    <a:pt x="10906760" y="0"/>
                  </a:lnTo>
                  <a:lnTo>
                    <a:pt x="10906760" y="6060440"/>
                  </a:lnTo>
                  <a:lnTo>
                    <a:pt x="0" y="6060440"/>
                  </a:lnTo>
                  <a:close/>
                </a:path>
              </a:pathLst>
            </a:custGeom>
            <a:solidFill>
              <a:srgbClr val="F0E3C6"/>
            </a:solidFill>
            <a:ln w="19050" cap="sq">
              <a:solidFill>
                <a:srgbClr val="E6CFA7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289923" y="3145155"/>
            <a:ext cx="142494" cy="4545330"/>
            <a:chOff x="0" y="0"/>
            <a:chExt cx="189992" cy="6060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9992" cy="6060440"/>
            </a:xfrm>
            <a:custGeom>
              <a:avLst/>
              <a:gdLst/>
              <a:ahLst/>
              <a:cxnLst/>
              <a:rect r="r" b="b" t="t" l="l"/>
              <a:pathLst>
                <a:path h="6060440" w="189992">
                  <a:moveTo>
                    <a:pt x="0" y="0"/>
                  </a:moveTo>
                  <a:lnTo>
                    <a:pt x="189992" y="0"/>
                  </a:lnTo>
                  <a:lnTo>
                    <a:pt x="189992" y="6060440"/>
                  </a:lnTo>
                  <a:lnTo>
                    <a:pt x="0" y="6060440"/>
                  </a:lnTo>
                  <a:close/>
                </a:path>
              </a:pathLst>
            </a:custGeom>
            <a:solidFill>
              <a:srgbClr val="3A4B41"/>
            </a:solidFill>
            <a:ln w="19050" cap="sq">
              <a:solidFill>
                <a:srgbClr val="3A4B41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779508" y="3456432"/>
            <a:ext cx="7338060" cy="593107"/>
            <a:chOff x="0" y="0"/>
            <a:chExt cx="9784080" cy="79080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84080" cy="790809"/>
            </a:xfrm>
            <a:custGeom>
              <a:avLst/>
              <a:gdLst/>
              <a:ahLst/>
              <a:cxnLst/>
              <a:rect r="r" b="b" t="t" l="l"/>
              <a:pathLst>
                <a:path h="790809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790809"/>
                  </a:lnTo>
                  <a:lnTo>
                    <a:pt x="0" y="7908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603" r="0" b="-18154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9784080" cy="8479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39"/>
                </a:lnSpc>
              </a:pPr>
              <a:r>
                <a:rPr lang="en-US" b="true" sz="2949" spc="453">
                  <a:solidFill>
                    <a:srgbClr val="B886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JAVA CONCEPTS IN PRACTICE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779508" y="4057650"/>
            <a:ext cx="7269480" cy="224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>
                <a:solidFill>
                  <a:srgbClr val="2A362F"/>
                </a:solidFill>
                <a:latin typeface="Calibri (MS)"/>
                <a:ea typeface="Calibri (MS)"/>
                <a:cs typeface="Calibri (MS)"/>
                <a:sym typeface="Calibri (MS)"/>
              </a:rPr>
              <a:t>The code demonstrates Java fundamentals, control flow, methods, recursion, arrays, object-oriented programming, exception handling, strings, file I/O, collections, lambda expressions, and streams.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13435" y="8082915"/>
            <a:ext cx="16656558" cy="1047750"/>
            <a:chOff x="0" y="0"/>
            <a:chExt cx="22208744" cy="1397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208744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3A4B41"/>
            </a:solidFill>
            <a:ln w="19050" cap="sq">
              <a:solidFill>
                <a:srgbClr val="3A4B41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822960" y="8092440"/>
            <a:ext cx="16637508" cy="1028700"/>
            <a:chOff x="0" y="0"/>
            <a:chExt cx="22183344" cy="1371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183344" cy="1371600"/>
            </a:xfrm>
            <a:custGeom>
              <a:avLst/>
              <a:gdLst/>
              <a:ahLst/>
              <a:cxnLst/>
              <a:rect r="r" b="b" t="t" l="l"/>
              <a:pathLst>
                <a:path h="137160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138" r="0" b="-26513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2183344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E6CFA7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Core goal: simulate transactions and organize account records using Java.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6591788" y="9608820"/>
            <a:ext cx="77724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3A4B41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246888"/>
            <a:chOff x="0" y="0"/>
            <a:chExt cx="24377904" cy="3291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329184"/>
            </a:xfrm>
            <a:custGeom>
              <a:avLst/>
              <a:gdLst/>
              <a:ahLst/>
              <a:cxnLst/>
              <a:rect r="r" b="b" t="t" l="l"/>
              <a:pathLst>
                <a:path h="329184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3A4B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46888"/>
            <a:ext cx="18283428" cy="68580"/>
            <a:chOff x="0" y="0"/>
            <a:chExt cx="24377904" cy="91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91440"/>
            </a:xfrm>
            <a:custGeom>
              <a:avLst/>
              <a:gdLst/>
              <a:ahLst/>
              <a:cxnLst/>
              <a:rect r="r" b="b" t="t" l="l"/>
              <a:pathLst>
                <a:path h="9144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CFA7"/>
            </a:solidFill>
          </p:spPr>
        </p:sp>
      </p:grpSp>
      <p:sp>
        <p:nvSpPr>
          <p:cNvPr name="AutoShape 6" id="6"/>
          <p:cNvSpPr/>
          <p:nvPr/>
        </p:nvSpPr>
        <p:spPr>
          <a:xfrm rot="3960">
            <a:off x="813425" y="9527857"/>
            <a:ext cx="16656568" cy="0"/>
          </a:xfrm>
          <a:prstGeom prst="line">
            <a:avLst/>
          </a:prstGeom>
          <a:ln cap="rnd" w="9525">
            <a:solidFill>
              <a:srgbClr val="E6CFA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822960" y="9601200"/>
            <a:ext cx="6858000" cy="411480"/>
            <a:chOff x="0" y="0"/>
            <a:chExt cx="91440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F85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ATM Transaction Simulator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685800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B886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&amp; SOLUTION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5899" y="891540"/>
            <a:ext cx="16637508" cy="1432179"/>
            <a:chOff x="0" y="0"/>
            <a:chExt cx="22183344" cy="19095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83344" cy="1909572"/>
            </a:xfrm>
            <a:custGeom>
              <a:avLst/>
              <a:gdLst/>
              <a:ahLst/>
              <a:cxnLst/>
              <a:rect r="r" b="b" t="t" l="l"/>
              <a:pathLst>
                <a:path h="1909572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909572"/>
                  </a:lnTo>
                  <a:lnTo>
                    <a:pt x="0" y="19095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442" r="0" b="-16226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2183344" cy="1919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>
                  <a:solidFill>
                    <a:srgbClr val="3A4B41"/>
                  </a:solidFill>
                  <a:latin typeface="Gagalin"/>
                  <a:ea typeface="Gagalin"/>
                  <a:cs typeface="Gagalin"/>
                  <a:sym typeface="Gagalin"/>
                </a:rPr>
                <a:t>Understanding the Problem Statement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2194560"/>
            <a:ext cx="16459200" cy="548640"/>
            <a:chOff x="0" y="0"/>
            <a:chExt cx="219456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1945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6F85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Why routine banking operations benefit from clear transaction processing.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13435" y="3076575"/>
            <a:ext cx="8180070" cy="3516630"/>
            <a:chOff x="0" y="0"/>
            <a:chExt cx="10906760" cy="4688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06760" cy="4688840"/>
            </a:xfrm>
            <a:custGeom>
              <a:avLst/>
              <a:gdLst/>
              <a:ahLst/>
              <a:cxnLst/>
              <a:rect r="r" b="b" t="t" l="l"/>
              <a:pathLst>
                <a:path h="4688840" w="10906760">
                  <a:moveTo>
                    <a:pt x="0" y="0"/>
                  </a:moveTo>
                  <a:lnTo>
                    <a:pt x="10906760" y="0"/>
                  </a:lnTo>
                  <a:lnTo>
                    <a:pt x="10906760" y="4688840"/>
                  </a:lnTo>
                  <a:lnTo>
                    <a:pt x="0" y="4688840"/>
                  </a:lnTo>
                  <a:close/>
                </a:path>
              </a:pathLst>
            </a:custGeom>
            <a:solidFill>
              <a:srgbClr val="F0E3C6"/>
            </a:solidFill>
            <a:ln w="19050" cap="sq">
              <a:solidFill>
                <a:srgbClr val="E6CFA7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813435" y="3076575"/>
            <a:ext cx="142494" cy="3516630"/>
            <a:chOff x="0" y="0"/>
            <a:chExt cx="189992" cy="4688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9992" cy="4688840"/>
            </a:xfrm>
            <a:custGeom>
              <a:avLst/>
              <a:gdLst/>
              <a:ahLst/>
              <a:cxnLst/>
              <a:rect r="r" b="b" t="t" l="l"/>
              <a:pathLst>
                <a:path h="4688840" w="189992">
                  <a:moveTo>
                    <a:pt x="0" y="0"/>
                  </a:moveTo>
                  <a:lnTo>
                    <a:pt x="189992" y="0"/>
                  </a:lnTo>
                  <a:lnTo>
                    <a:pt x="189992" y="4688840"/>
                  </a:lnTo>
                  <a:lnTo>
                    <a:pt x="0" y="4688840"/>
                  </a:lnTo>
                  <a:close/>
                </a:path>
              </a:pathLst>
            </a:custGeom>
            <a:solidFill>
              <a:srgbClr val="3A4B41"/>
            </a:solidFill>
            <a:ln w="19050" cap="sq">
              <a:solidFill>
                <a:srgbClr val="3A4B41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03020" y="3387852"/>
            <a:ext cx="7338060" cy="480060"/>
            <a:chOff x="0" y="0"/>
            <a:chExt cx="9784080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84080" cy="640080"/>
            </a:xfrm>
            <a:custGeom>
              <a:avLst/>
              <a:gdLst/>
              <a:ahLst/>
              <a:cxnLst/>
              <a:rect r="r" b="b" t="t" l="l"/>
              <a:pathLst>
                <a:path h="64008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842" r="0" b="-24784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784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B886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03020" y="3998595"/>
            <a:ext cx="726948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>
                <a:solidFill>
                  <a:srgbClr val="2A362F"/>
                </a:solidFill>
                <a:latin typeface="Calibri (MS)"/>
                <a:ea typeface="Calibri (MS)"/>
                <a:cs typeface="Calibri (MS)"/>
                <a:sym typeface="Calibri (MS)"/>
              </a:rPr>
              <a:t>Tracking deposits, withdrawals, balances, and previous transactions manually can be error-prone and make account activity harder to review.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289923" y="3076575"/>
            <a:ext cx="8180070" cy="3516630"/>
            <a:chOff x="0" y="0"/>
            <a:chExt cx="10906760" cy="4688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06760" cy="4688840"/>
            </a:xfrm>
            <a:custGeom>
              <a:avLst/>
              <a:gdLst/>
              <a:ahLst/>
              <a:cxnLst/>
              <a:rect r="r" b="b" t="t" l="l"/>
              <a:pathLst>
                <a:path h="4688840" w="10906760">
                  <a:moveTo>
                    <a:pt x="0" y="0"/>
                  </a:moveTo>
                  <a:lnTo>
                    <a:pt x="10906760" y="0"/>
                  </a:lnTo>
                  <a:lnTo>
                    <a:pt x="10906760" y="4688840"/>
                  </a:lnTo>
                  <a:lnTo>
                    <a:pt x="0" y="4688840"/>
                  </a:lnTo>
                  <a:close/>
                </a:path>
              </a:pathLst>
            </a:custGeom>
            <a:solidFill>
              <a:srgbClr val="3A4B41"/>
            </a:solidFill>
            <a:ln w="19050" cap="sq">
              <a:solidFill>
                <a:srgbClr val="3A4B41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289923" y="3076575"/>
            <a:ext cx="142494" cy="3516630"/>
            <a:chOff x="0" y="0"/>
            <a:chExt cx="189992" cy="4688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9992" cy="4688840"/>
            </a:xfrm>
            <a:custGeom>
              <a:avLst/>
              <a:gdLst/>
              <a:ahLst/>
              <a:cxnLst/>
              <a:rect r="r" b="b" t="t" l="l"/>
              <a:pathLst>
                <a:path h="4688840" w="189992">
                  <a:moveTo>
                    <a:pt x="0" y="0"/>
                  </a:moveTo>
                  <a:lnTo>
                    <a:pt x="189992" y="0"/>
                  </a:lnTo>
                  <a:lnTo>
                    <a:pt x="189992" y="4688840"/>
                  </a:lnTo>
                  <a:lnTo>
                    <a:pt x="0" y="4688840"/>
                  </a:lnTo>
                  <a:close/>
                </a:path>
              </a:pathLst>
            </a:custGeom>
            <a:solidFill>
              <a:srgbClr val="E6CFA7"/>
            </a:solidFill>
            <a:ln w="19050" cap="sq">
              <a:solidFill>
                <a:srgbClr val="E6CFA7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779508" y="3387852"/>
            <a:ext cx="7338060" cy="480060"/>
            <a:chOff x="0" y="0"/>
            <a:chExt cx="9784080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84080" cy="640080"/>
            </a:xfrm>
            <a:custGeom>
              <a:avLst/>
              <a:gdLst/>
              <a:ahLst/>
              <a:cxnLst/>
              <a:rect r="r" b="b" t="t" l="l"/>
              <a:pathLst>
                <a:path h="64008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842" r="0" b="-24784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784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E6CF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SOLUTION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779508" y="3998595"/>
            <a:ext cx="7269480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>
                <a:solidFill>
                  <a:srgbClr val="F8F2E4"/>
                </a:solidFill>
                <a:latin typeface="Calibri (MS)"/>
                <a:ea typeface="Calibri (MS)"/>
                <a:cs typeface="Calibri (MS)"/>
                <a:sym typeface="Calibri (MS)"/>
              </a:rPr>
              <a:t>A menu-driven Java program validates transaction amounts, updates the balance, records transaction details, supports search and sorting, and saves records to a text file.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22960" y="6926580"/>
            <a:ext cx="6858000" cy="411480"/>
            <a:chOff x="0" y="0"/>
            <a:chExt cx="914400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B886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MAIN FUNCTIONS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13435" y="7465695"/>
            <a:ext cx="3996690" cy="1527810"/>
            <a:chOff x="0" y="0"/>
            <a:chExt cx="5328920" cy="2037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28920" cy="2037080"/>
            </a:xfrm>
            <a:custGeom>
              <a:avLst/>
              <a:gdLst/>
              <a:ahLst/>
              <a:cxnLst/>
              <a:rect r="r" b="b" t="t" l="l"/>
              <a:pathLst>
                <a:path h="203708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2037080"/>
                  </a:lnTo>
                  <a:lnTo>
                    <a:pt x="0" y="2037080"/>
                  </a:lnTo>
                  <a:close/>
                </a:path>
              </a:pathLst>
            </a:custGeom>
            <a:solidFill>
              <a:srgbClr val="F0E3C6"/>
            </a:solidFill>
            <a:ln w="19050" cap="sq">
              <a:solidFill>
                <a:srgbClr val="E6CFA7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97280" y="7612380"/>
            <a:ext cx="1234440" cy="617220"/>
            <a:chOff x="0" y="0"/>
            <a:chExt cx="1645920" cy="8229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45920" cy="822960"/>
            </a:xfrm>
            <a:custGeom>
              <a:avLst/>
              <a:gdLst/>
              <a:ahLst/>
              <a:cxnLst/>
              <a:rect r="r" b="b" t="t" l="l"/>
              <a:pathLst>
                <a:path h="82296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164592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B886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01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97280" y="8229600"/>
            <a:ext cx="3497580" cy="617220"/>
            <a:chOff x="0" y="0"/>
            <a:chExt cx="4663440" cy="8229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663440" cy="822960"/>
            </a:xfrm>
            <a:custGeom>
              <a:avLst/>
              <a:gdLst/>
              <a:ahLst/>
              <a:cxnLst/>
              <a:rect r="r" b="b" t="t" l="l"/>
              <a:pathLst>
                <a:path h="82296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466344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A4B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 balance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037963" y="7465695"/>
            <a:ext cx="3996690" cy="1527810"/>
            <a:chOff x="0" y="0"/>
            <a:chExt cx="5328920" cy="20370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328920" cy="2037080"/>
            </a:xfrm>
            <a:custGeom>
              <a:avLst/>
              <a:gdLst/>
              <a:ahLst/>
              <a:cxnLst/>
              <a:rect r="r" b="b" t="t" l="l"/>
              <a:pathLst>
                <a:path h="203708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2037080"/>
                  </a:lnTo>
                  <a:lnTo>
                    <a:pt x="0" y="2037080"/>
                  </a:lnTo>
                  <a:close/>
                </a:path>
              </a:pathLst>
            </a:custGeom>
            <a:solidFill>
              <a:srgbClr val="F0E3C6"/>
            </a:solidFill>
            <a:ln w="19050" cap="sq">
              <a:solidFill>
                <a:srgbClr val="E6CFA7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5321808" y="7612380"/>
            <a:ext cx="1234440" cy="617220"/>
            <a:chOff x="0" y="0"/>
            <a:chExt cx="1645920" cy="8229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645920" cy="822960"/>
            </a:xfrm>
            <a:custGeom>
              <a:avLst/>
              <a:gdLst/>
              <a:ahLst/>
              <a:cxnLst/>
              <a:rect r="r" b="b" t="t" l="l"/>
              <a:pathLst>
                <a:path h="82296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164592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B886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02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321808" y="8229600"/>
            <a:ext cx="3497580" cy="617220"/>
            <a:chOff x="0" y="0"/>
            <a:chExt cx="4663440" cy="8229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663440" cy="822960"/>
            </a:xfrm>
            <a:custGeom>
              <a:avLst/>
              <a:gdLst/>
              <a:ahLst/>
              <a:cxnLst/>
              <a:rect r="r" b="b" t="t" l="l"/>
              <a:pathLst>
                <a:path h="82296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466344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A4B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Deposit / withdraw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262491" y="7465695"/>
            <a:ext cx="3996690" cy="1527810"/>
            <a:chOff x="0" y="0"/>
            <a:chExt cx="5328920" cy="20370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28920" cy="2037080"/>
            </a:xfrm>
            <a:custGeom>
              <a:avLst/>
              <a:gdLst/>
              <a:ahLst/>
              <a:cxnLst/>
              <a:rect r="r" b="b" t="t" l="l"/>
              <a:pathLst>
                <a:path h="203708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2037080"/>
                  </a:lnTo>
                  <a:lnTo>
                    <a:pt x="0" y="2037080"/>
                  </a:lnTo>
                  <a:close/>
                </a:path>
              </a:pathLst>
            </a:custGeom>
            <a:solidFill>
              <a:srgbClr val="F0E3C6"/>
            </a:solidFill>
            <a:ln w="19050" cap="sq">
              <a:solidFill>
                <a:srgbClr val="E6CFA7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546336" y="7612380"/>
            <a:ext cx="1234440" cy="617220"/>
            <a:chOff x="0" y="0"/>
            <a:chExt cx="1645920" cy="8229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45920" cy="822960"/>
            </a:xfrm>
            <a:custGeom>
              <a:avLst/>
              <a:gdLst/>
              <a:ahLst/>
              <a:cxnLst/>
              <a:rect r="r" b="b" t="t" l="l"/>
              <a:pathLst>
                <a:path h="82296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164592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B886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03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546336" y="8229600"/>
            <a:ext cx="3497580" cy="617220"/>
            <a:chOff x="0" y="0"/>
            <a:chExt cx="4663440" cy="8229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663440" cy="822960"/>
            </a:xfrm>
            <a:custGeom>
              <a:avLst/>
              <a:gdLst/>
              <a:ahLst/>
              <a:cxnLst/>
              <a:rect r="r" b="b" t="t" l="l"/>
              <a:pathLst>
                <a:path h="82296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466344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A4B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Search / sort history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487019" y="7465695"/>
            <a:ext cx="3996690" cy="1527810"/>
            <a:chOff x="0" y="0"/>
            <a:chExt cx="5328920" cy="20370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328920" cy="2037080"/>
            </a:xfrm>
            <a:custGeom>
              <a:avLst/>
              <a:gdLst/>
              <a:ahLst/>
              <a:cxnLst/>
              <a:rect r="r" b="b" t="t" l="l"/>
              <a:pathLst>
                <a:path h="203708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2037080"/>
                  </a:lnTo>
                  <a:lnTo>
                    <a:pt x="0" y="2037080"/>
                  </a:lnTo>
                  <a:close/>
                </a:path>
              </a:pathLst>
            </a:custGeom>
            <a:solidFill>
              <a:srgbClr val="F0E3C6"/>
            </a:solidFill>
            <a:ln w="19050" cap="sq">
              <a:solidFill>
                <a:srgbClr val="E6CFA7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3770864" y="7612380"/>
            <a:ext cx="1234440" cy="617220"/>
            <a:chOff x="0" y="0"/>
            <a:chExt cx="1645920" cy="8229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645920" cy="822960"/>
            </a:xfrm>
            <a:custGeom>
              <a:avLst/>
              <a:gdLst/>
              <a:ahLst/>
              <a:cxnLst/>
              <a:rect r="r" b="b" t="t" l="l"/>
              <a:pathLst>
                <a:path h="82296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164592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B8864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04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770864" y="8229600"/>
            <a:ext cx="3497580" cy="617220"/>
            <a:chOff x="0" y="0"/>
            <a:chExt cx="4663440" cy="8229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663440" cy="822960"/>
            </a:xfrm>
            <a:custGeom>
              <a:avLst/>
              <a:gdLst/>
              <a:ahLst/>
              <a:cxnLst/>
              <a:rect r="r" b="b" t="t" l="l"/>
              <a:pathLst>
                <a:path h="82296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466344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A4B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Save / view records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6591788" y="9608820"/>
            <a:ext cx="77724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3A4B41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246888"/>
            <a:chOff x="0" y="0"/>
            <a:chExt cx="24377904" cy="3291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329184"/>
            </a:xfrm>
            <a:custGeom>
              <a:avLst/>
              <a:gdLst/>
              <a:ahLst/>
              <a:cxnLst/>
              <a:rect r="r" b="b" t="t" l="l"/>
              <a:pathLst>
                <a:path h="329184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3A4B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46888"/>
            <a:ext cx="18283428" cy="68580"/>
            <a:chOff x="0" y="0"/>
            <a:chExt cx="24377904" cy="91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91440"/>
            </a:xfrm>
            <a:custGeom>
              <a:avLst/>
              <a:gdLst/>
              <a:ahLst/>
              <a:cxnLst/>
              <a:rect r="r" b="b" t="t" l="l"/>
              <a:pathLst>
                <a:path h="9144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CFA7"/>
            </a:solidFill>
          </p:spPr>
        </p:sp>
      </p:grpSp>
      <p:sp>
        <p:nvSpPr>
          <p:cNvPr name="AutoShape 6" id="6"/>
          <p:cNvSpPr/>
          <p:nvPr/>
        </p:nvSpPr>
        <p:spPr>
          <a:xfrm rot="3960">
            <a:off x="813425" y="9527857"/>
            <a:ext cx="16656568" cy="0"/>
          </a:xfrm>
          <a:prstGeom prst="line">
            <a:avLst/>
          </a:prstGeom>
          <a:ln cap="rnd" w="9525">
            <a:solidFill>
              <a:srgbClr val="E6CFA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822960" y="9601200"/>
            <a:ext cx="6858000" cy="411480"/>
            <a:chOff x="0" y="0"/>
            <a:chExt cx="91440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F85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ATM Transaction Simulator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685800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B886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COURSE OUTCOMES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7052" y="950405"/>
            <a:ext cx="16637508" cy="1432179"/>
            <a:chOff x="0" y="0"/>
            <a:chExt cx="22183344" cy="19095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83344" cy="1909572"/>
            </a:xfrm>
            <a:custGeom>
              <a:avLst/>
              <a:gdLst/>
              <a:ahLst/>
              <a:cxnLst/>
              <a:rect r="r" b="b" t="t" l="l"/>
              <a:pathLst>
                <a:path h="1909572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909572"/>
                  </a:lnTo>
                  <a:lnTo>
                    <a:pt x="0" y="19095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442" r="0" b="-16226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2183344" cy="1919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>
                  <a:solidFill>
                    <a:srgbClr val="3A4B41"/>
                  </a:solidFill>
                  <a:latin typeface="Gagalin"/>
                  <a:ea typeface="Gagalin"/>
                  <a:cs typeface="Gagalin"/>
                  <a:sym typeface="Gagalin"/>
                </a:rPr>
                <a:t>Six Modules at a Glance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2194560"/>
            <a:ext cx="16459200" cy="548640"/>
            <a:chOff x="0" y="0"/>
            <a:chExt cx="219456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1945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6F85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How each Java module maps to a part of the ATM simulator.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822960" y="3017520"/>
          <a:ext cx="16611600" cy="6096000"/>
        </p:xfrm>
        <a:graphic>
          <a:graphicData uri="http://schemas.openxmlformats.org/drawingml/2006/table">
            <a:tbl>
              <a:tblPr/>
              <a:tblGrid>
                <a:gridCol w="1805937"/>
                <a:gridCol w="5750285"/>
                <a:gridCol w="9055377"/>
              </a:tblGrid>
              <a:tr h="6164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 spc="299">
                          <a:solidFill>
                            <a:srgbClr val="E6CFA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MODULE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B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 spc="299">
                          <a:solidFill>
                            <a:srgbClr val="E6CFA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TITLE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B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 spc="299">
                          <a:solidFill>
                            <a:srgbClr val="E6CFA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KEY TOPICS IN THE ATM CODE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B41"/>
                    </a:solidFill>
                  </a:tcPr>
                </a:tc>
              </a:tr>
              <a:tr h="9132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CO 1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From Problem to Program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Variables, constants, operators, Scanner input, formatted output, input checks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</a:tr>
              <a:tr h="9132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CO 2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Control Flow: Selection &amp; Iteration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if, switch, while, do-while, for loops, break &amp; continue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</a:tr>
              <a:tr h="9132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CO 3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Methods, Recursion &amp; Arrays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Modular methods, overloading, 1D/2D arrays, binary search, recursion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</a:tr>
              <a:tr h="9132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CO 4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OOP Modelling &amp; Exception Handling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Classes, inheritance, abstract classes, interfaces, exceptions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</a:tr>
              <a:tr h="9132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CO 5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Strings, Algorithms &amp; File I/O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String operations, searching &amp; sorting, Comparable, file reading &amp; writing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</a:tr>
              <a:tr h="9132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CO 6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Functional Programming &amp; Collections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ArrayList, HashMap, HashSet, lambdas, method references, streams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</a:tr>
            </a:tbl>
          </a:graphicData>
        </a:graphic>
      </p:graphicFrame>
      <p:sp>
        <p:nvSpPr>
          <p:cNvPr name="TextBox 20" id="20"/>
          <p:cNvSpPr txBox="true"/>
          <p:nvPr/>
        </p:nvSpPr>
        <p:spPr>
          <a:xfrm rot="0">
            <a:off x="16591788" y="9608820"/>
            <a:ext cx="77724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3A4B41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246888"/>
            <a:chOff x="0" y="0"/>
            <a:chExt cx="24377904" cy="3291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329184"/>
            </a:xfrm>
            <a:custGeom>
              <a:avLst/>
              <a:gdLst/>
              <a:ahLst/>
              <a:cxnLst/>
              <a:rect r="r" b="b" t="t" l="l"/>
              <a:pathLst>
                <a:path h="329184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3A4B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46888"/>
            <a:ext cx="18283428" cy="68580"/>
            <a:chOff x="0" y="0"/>
            <a:chExt cx="24377904" cy="91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91440"/>
            </a:xfrm>
            <a:custGeom>
              <a:avLst/>
              <a:gdLst/>
              <a:ahLst/>
              <a:cxnLst/>
              <a:rect r="r" b="b" t="t" l="l"/>
              <a:pathLst>
                <a:path h="9144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CFA7"/>
            </a:solidFill>
          </p:spPr>
        </p:sp>
      </p:grpSp>
      <p:sp>
        <p:nvSpPr>
          <p:cNvPr name="AutoShape 6" id="6"/>
          <p:cNvSpPr/>
          <p:nvPr/>
        </p:nvSpPr>
        <p:spPr>
          <a:xfrm rot="3960">
            <a:off x="813425" y="9527857"/>
            <a:ext cx="16656568" cy="0"/>
          </a:xfrm>
          <a:prstGeom prst="line">
            <a:avLst/>
          </a:prstGeom>
          <a:ln cap="rnd" w="9525">
            <a:solidFill>
              <a:srgbClr val="E6CFA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822960" y="9601200"/>
            <a:ext cx="6858000" cy="411480"/>
            <a:chOff x="0" y="0"/>
            <a:chExt cx="91440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F85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ATM Transaction Simulator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685800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B886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 1  /  MODULE 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1165860"/>
            <a:ext cx="16637508" cy="1432179"/>
            <a:chOff x="0" y="0"/>
            <a:chExt cx="22183344" cy="19095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83344" cy="1909572"/>
            </a:xfrm>
            <a:custGeom>
              <a:avLst/>
              <a:gdLst/>
              <a:ahLst/>
              <a:cxnLst/>
              <a:rect r="r" b="b" t="t" l="l"/>
              <a:pathLst>
                <a:path h="1909572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909572"/>
                  </a:lnTo>
                  <a:lnTo>
                    <a:pt x="0" y="19095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442" r="0" b="-16226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2183344" cy="1919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>
                  <a:solidFill>
                    <a:srgbClr val="3A4B41"/>
                  </a:solidFill>
                  <a:latin typeface="Gagalin"/>
                  <a:ea typeface="Gagalin"/>
                  <a:cs typeface="Gagalin"/>
                  <a:sym typeface="Gagalin"/>
                </a:rPr>
                <a:t>CO 1  |  From Problem to Program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2194560"/>
            <a:ext cx="16459200" cy="548640"/>
            <a:chOff x="0" y="0"/>
            <a:chExt cx="219456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1945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6F85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Computational Thinking &amp; Java Foundations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822960" y="3017520"/>
          <a:ext cx="16611600" cy="5943600"/>
        </p:xfrm>
        <a:graphic>
          <a:graphicData uri="http://schemas.openxmlformats.org/drawingml/2006/table">
            <a:tbl>
              <a:tblPr/>
              <a:tblGrid>
                <a:gridCol w="1125877"/>
                <a:gridCol w="4934213"/>
                <a:gridCol w="10551509"/>
              </a:tblGrid>
              <a:tr h="581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b="true" sz="1950" spc="299">
                          <a:solidFill>
                            <a:srgbClr val="E6CFA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#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B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 spc="299">
                          <a:solidFill>
                            <a:srgbClr val="E6CFA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TOPIC USED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B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 spc="299">
                          <a:solidFill>
                            <a:srgbClr val="E6CFA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PURPOSE IN OUR CODE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B41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01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Variables &amp; data types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Store transaction amounts, account balance, menu choices, and transaction counts.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02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Constants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TITLE stores the application heading; FILE stores the transaction file name.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03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Arithmetic &amp; assignment operators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Update balance after deposits and withdrawals; add amounts to transaction summaries.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04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Relational operators &amp; conditions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Validate positive amounts, check sufficient balance, and test whether the user chose Exit.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05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Scanner input &amp; formatted output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Scanner reads menu choices and amounts; printf displays the balance to two decimal places.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06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Exception and input checks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Check numeric input and handle invalid transaction amounts or insufficient balance.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</a:tr>
            </a:tbl>
          </a:graphicData>
        </a:graphic>
      </p:graphicFrame>
      <p:sp>
        <p:nvSpPr>
          <p:cNvPr name="TextBox 20" id="20"/>
          <p:cNvSpPr txBox="true"/>
          <p:nvPr/>
        </p:nvSpPr>
        <p:spPr>
          <a:xfrm rot="0">
            <a:off x="16591788" y="9608820"/>
            <a:ext cx="77724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3A4B41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246888"/>
            <a:chOff x="0" y="0"/>
            <a:chExt cx="24377904" cy="3291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329184"/>
            </a:xfrm>
            <a:custGeom>
              <a:avLst/>
              <a:gdLst/>
              <a:ahLst/>
              <a:cxnLst/>
              <a:rect r="r" b="b" t="t" l="l"/>
              <a:pathLst>
                <a:path h="329184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3A4B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46888"/>
            <a:ext cx="18283428" cy="68580"/>
            <a:chOff x="0" y="0"/>
            <a:chExt cx="24377904" cy="91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91440"/>
            </a:xfrm>
            <a:custGeom>
              <a:avLst/>
              <a:gdLst/>
              <a:ahLst/>
              <a:cxnLst/>
              <a:rect r="r" b="b" t="t" l="l"/>
              <a:pathLst>
                <a:path h="9144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CFA7"/>
            </a:solidFill>
          </p:spPr>
        </p:sp>
      </p:grpSp>
      <p:sp>
        <p:nvSpPr>
          <p:cNvPr name="AutoShape 6" id="6"/>
          <p:cNvSpPr/>
          <p:nvPr/>
        </p:nvSpPr>
        <p:spPr>
          <a:xfrm rot="3960">
            <a:off x="813425" y="9527857"/>
            <a:ext cx="16656568" cy="0"/>
          </a:xfrm>
          <a:prstGeom prst="line">
            <a:avLst/>
          </a:prstGeom>
          <a:ln cap="rnd" w="9525">
            <a:solidFill>
              <a:srgbClr val="E6CFA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822960" y="9601200"/>
            <a:ext cx="6858000" cy="411480"/>
            <a:chOff x="0" y="0"/>
            <a:chExt cx="91440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F85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ATM Transaction Simulator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685800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B886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 2  /  MODULE 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7052" y="947166"/>
            <a:ext cx="16637508" cy="1432179"/>
            <a:chOff x="0" y="0"/>
            <a:chExt cx="22183344" cy="19095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83344" cy="1909572"/>
            </a:xfrm>
            <a:custGeom>
              <a:avLst/>
              <a:gdLst/>
              <a:ahLst/>
              <a:cxnLst/>
              <a:rect r="r" b="b" t="t" l="l"/>
              <a:pathLst>
                <a:path h="1909572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909572"/>
                  </a:lnTo>
                  <a:lnTo>
                    <a:pt x="0" y="19095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442" r="0" b="-16226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2183344" cy="1919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>
                  <a:solidFill>
                    <a:srgbClr val="3A4B41"/>
                  </a:solidFill>
                  <a:latin typeface="Gagalin"/>
                  <a:ea typeface="Gagalin"/>
                  <a:cs typeface="Gagalin"/>
                  <a:sym typeface="Gagalin"/>
                </a:rPr>
                <a:t>CO 2  |  Control Flow: Selection &amp; Iteration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2194560"/>
            <a:ext cx="16459200" cy="548640"/>
            <a:chOff x="0" y="0"/>
            <a:chExt cx="219456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1945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6F85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Decisions and repetition that drive the ATM menu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822960" y="3017520"/>
          <a:ext cx="16611600" cy="5943600"/>
        </p:xfrm>
        <a:graphic>
          <a:graphicData uri="http://schemas.openxmlformats.org/drawingml/2006/table">
            <a:tbl>
              <a:tblPr/>
              <a:tblGrid>
                <a:gridCol w="1125877"/>
                <a:gridCol w="4934213"/>
                <a:gridCol w="10551509"/>
              </a:tblGrid>
              <a:tr h="581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b="true" sz="1950" spc="299">
                          <a:solidFill>
                            <a:srgbClr val="E6CFA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#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B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 spc="299">
                          <a:solidFill>
                            <a:srgbClr val="E6CFA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TOPIC USED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B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 spc="299">
                          <a:solidFill>
                            <a:srgbClr val="E6CFA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PURPOSE IN OUR CODE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B41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01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if conditions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Reject non-positive deposits or withdrawals and prevent withdrawals above the balance.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02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switch, case &amp; default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Route choices to balance, deposit, withdrawal, history, search, reports, demonstrations, or exit.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03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while loop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Check that the menu choice is an integer and discard invalid input.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04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do-while loop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Repeat the ATM menu until the user enters 0 to exit.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05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for and collection loops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Traverse transactions and print history, sorted records, and report details.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06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break &amp; continue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Use break to leave switch cases and continue to re-prompt after invalid menu input.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</a:tr>
            </a:tbl>
          </a:graphicData>
        </a:graphic>
      </p:graphicFrame>
      <p:sp>
        <p:nvSpPr>
          <p:cNvPr name="TextBox 20" id="20"/>
          <p:cNvSpPr txBox="true"/>
          <p:nvPr/>
        </p:nvSpPr>
        <p:spPr>
          <a:xfrm rot="0">
            <a:off x="16591788" y="9608820"/>
            <a:ext cx="77724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3A4B41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246888"/>
            <a:chOff x="0" y="0"/>
            <a:chExt cx="24377904" cy="3291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329184"/>
            </a:xfrm>
            <a:custGeom>
              <a:avLst/>
              <a:gdLst/>
              <a:ahLst/>
              <a:cxnLst/>
              <a:rect r="r" b="b" t="t" l="l"/>
              <a:pathLst>
                <a:path h="329184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3A4B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46888"/>
            <a:ext cx="18283428" cy="68580"/>
            <a:chOff x="0" y="0"/>
            <a:chExt cx="24377904" cy="91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91440"/>
            </a:xfrm>
            <a:custGeom>
              <a:avLst/>
              <a:gdLst/>
              <a:ahLst/>
              <a:cxnLst/>
              <a:rect r="r" b="b" t="t" l="l"/>
              <a:pathLst>
                <a:path h="9144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CFA7"/>
            </a:solidFill>
          </p:spPr>
        </p:sp>
      </p:grpSp>
      <p:sp>
        <p:nvSpPr>
          <p:cNvPr name="AutoShape 6" id="6"/>
          <p:cNvSpPr/>
          <p:nvPr/>
        </p:nvSpPr>
        <p:spPr>
          <a:xfrm rot="3960">
            <a:off x="813425" y="9527857"/>
            <a:ext cx="16656568" cy="0"/>
          </a:xfrm>
          <a:prstGeom prst="line">
            <a:avLst/>
          </a:prstGeom>
          <a:ln cap="rnd" w="9525">
            <a:solidFill>
              <a:srgbClr val="E6CFA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822960" y="9601200"/>
            <a:ext cx="6858000" cy="411480"/>
            <a:chOff x="0" y="0"/>
            <a:chExt cx="91440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F85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ATM Transaction Simulator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685800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B886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 3  /  MODULE 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7052" y="891540"/>
            <a:ext cx="16637508" cy="1432179"/>
            <a:chOff x="0" y="0"/>
            <a:chExt cx="22183344" cy="19095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83344" cy="1909572"/>
            </a:xfrm>
            <a:custGeom>
              <a:avLst/>
              <a:gdLst/>
              <a:ahLst/>
              <a:cxnLst/>
              <a:rect r="r" b="b" t="t" l="l"/>
              <a:pathLst>
                <a:path h="1909572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909572"/>
                  </a:lnTo>
                  <a:lnTo>
                    <a:pt x="0" y="19095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442" r="0" b="-16226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2183344" cy="1919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>
                  <a:solidFill>
                    <a:srgbClr val="3A4B41"/>
                  </a:solidFill>
                  <a:latin typeface="Gagalin"/>
                  <a:ea typeface="Gagalin"/>
                  <a:cs typeface="Gagalin"/>
                  <a:sym typeface="Gagalin"/>
                </a:rPr>
                <a:t>CO 3  |  Methods, Recursion &amp; Arrays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2194560"/>
            <a:ext cx="16459200" cy="548640"/>
            <a:chOff x="0" y="0"/>
            <a:chExt cx="219456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1945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6F85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Decomposition with Methods, Recursion &amp; Arrays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822960" y="3017520"/>
          <a:ext cx="16611600" cy="5943600"/>
        </p:xfrm>
        <a:graphic>
          <a:graphicData uri="http://schemas.openxmlformats.org/drawingml/2006/table">
            <a:tbl>
              <a:tblPr/>
              <a:tblGrid>
                <a:gridCol w="1125877"/>
                <a:gridCol w="4934213"/>
                <a:gridCol w="10551509"/>
              </a:tblGrid>
              <a:tr h="581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b="true" sz="1950" spc="299">
                          <a:solidFill>
                            <a:srgbClr val="E6CFA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#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B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 spc="299">
                          <a:solidFill>
                            <a:srgbClr val="E6CFA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TOPIC USED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B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 spc="299">
                          <a:solidFill>
                            <a:srgbClr val="E6CFA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PURPOSE IN OUR CODE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B41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01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Modular methods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Separate deposits, withdrawals, history, search, sorting, reports, and file operations into methods.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02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Parameters &amp; return values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Pass amounts and transaction objects; return the current balance and recursive transaction total.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03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Method overloading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receipt(String) displays a message; receipt(Transaction) displays a transaction receipt.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04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1D arrays: sort &amp; search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Convert transaction amounts to a double array, sort them, and search using Arrays.binarySearch().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05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Recursion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recursiveTotal(index) adds transaction amounts and stops when the index reaches history.size().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06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2D arrays and counting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matrixReport() counts deposits and withdrawals and totals their amounts in a 2D array.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</a:tr>
            </a:tbl>
          </a:graphicData>
        </a:graphic>
      </p:graphicFrame>
      <p:sp>
        <p:nvSpPr>
          <p:cNvPr name="TextBox 20" id="20"/>
          <p:cNvSpPr txBox="true"/>
          <p:nvPr/>
        </p:nvSpPr>
        <p:spPr>
          <a:xfrm rot="0">
            <a:off x="16591788" y="9608820"/>
            <a:ext cx="77724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3A4B41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246888"/>
            <a:chOff x="0" y="0"/>
            <a:chExt cx="24377904" cy="3291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329184"/>
            </a:xfrm>
            <a:custGeom>
              <a:avLst/>
              <a:gdLst/>
              <a:ahLst/>
              <a:cxnLst/>
              <a:rect r="r" b="b" t="t" l="l"/>
              <a:pathLst>
                <a:path h="329184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3A4B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46888"/>
            <a:ext cx="18283428" cy="68580"/>
            <a:chOff x="0" y="0"/>
            <a:chExt cx="24377904" cy="91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91440"/>
            </a:xfrm>
            <a:custGeom>
              <a:avLst/>
              <a:gdLst/>
              <a:ahLst/>
              <a:cxnLst/>
              <a:rect r="r" b="b" t="t" l="l"/>
              <a:pathLst>
                <a:path h="9144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CFA7"/>
            </a:solidFill>
          </p:spPr>
        </p:sp>
      </p:grpSp>
      <p:sp>
        <p:nvSpPr>
          <p:cNvPr name="AutoShape 6" id="6"/>
          <p:cNvSpPr/>
          <p:nvPr/>
        </p:nvSpPr>
        <p:spPr>
          <a:xfrm rot="3960">
            <a:off x="813425" y="9527857"/>
            <a:ext cx="16656568" cy="0"/>
          </a:xfrm>
          <a:prstGeom prst="line">
            <a:avLst/>
          </a:prstGeom>
          <a:ln cap="rnd" w="9525">
            <a:solidFill>
              <a:srgbClr val="E6CFA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822960" y="9601200"/>
            <a:ext cx="6858000" cy="411480"/>
            <a:chOff x="0" y="0"/>
            <a:chExt cx="91440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F85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ATM Transaction Simulator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685800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B886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 4  /  MODULE 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4652" y="891540"/>
            <a:ext cx="16637508" cy="1432179"/>
            <a:chOff x="0" y="0"/>
            <a:chExt cx="22183344" cy="19095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83344" cy="1909572"/>
            </a:xfrm>
            <a:custGeom>
              <a:avLst/>
              <a:gdLst/>
              <a:ahLst/>
              <a:cxnLst/>
              <a:rect r="r" b="b" t="t" l="l"/>
              <a:pathLst>
                <a:path h="1909572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909572"/>
                  </a:lnTo>
                  <a:lnTo>
                    <a:pt x="0" y="19095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442" r="0" b="-16226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2183344" cy="1919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>
                  <a:solidFill>
                    <a:srgbClr val="3A4B41"/>
                  </a:solidFill>
                  <a:latin typeface="Gagalin"/>
                  <a:ea typeface="Gagalin"/>
                  <a:cs typeface="Gagalin"/>
                  <a:sym typeface="Gagalin"/>
                </a:rPr>
                <a:t>CO 4  |  OOP Modelling &amp; Exception Handling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2194560"/>
            <a:ext cx="16459200" cy="548640"/>
            <a:chOff x="0" y="0"/>
            <a:chExt cx="219456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1945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6F85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Object-Oriented Modelling, Design &amp; Exception Handling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822960" y="3017520"/>
          <a:ext cx="16611600" cy="5943600"/>
        </p:xfrm>
        <a:graphic>
          <a:graphicData uri="http://schemas.openxmlformats.org/drawingml/2006/table">
            <a:tbl>
              <a:tblPr/>
              <a:tblGrid>
                <a:gridCol w="1125877"/>
                <a:gridCol w="4934213"/>
                <a:gridCol w="10551509"/>
              </a:tblGrid>
              <a:tr h="581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b="true" sz="1950" spc="299">
                          <a:solidFill>
                            <a:srgbClr val="E6CFA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#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B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 spc="299">
                          <a:solidFill>
                            <a:srgbClr val="E6CFA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TOPIC USED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B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 spc="299">
                          <a:solidFill>
                            <a:srgbClr val="E6CFA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PURPOSE IN OUR CODE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B41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01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Classes &amp; objects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BankAccount stores account state and transaction collections; Transaction models each recorded transaction.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02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Constructors &amp; overloading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Constructors initialize a BankAccount balance and Transaction type, amount, and balance.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03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Encapsulation &amp; accessors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Private transaction fields are accessed through getType(), getAmount(), and getBalance().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04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Inheritance &amp; abstract class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Transaction extends the abstract TransactionAction class and implements its required transaction type behaviour.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05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Interfaces &amp; overriding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ATMOperations defines deposit/withdraw; Comparable orders transactions by amount; methods are overridden.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06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Exceptions &amp; try-with-resources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Handle invalid amounts, input mismatches, and file errors; try-with-resources closes file writers/readers.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</a:tr>
            </a:tbl>
          </a:graphicData>
        </a:graphic>
      </p:graphicFrame>
      <p:sp>
        <p:nvSpPr>
          <p:cNvPr name="TextBox 20" id="20"/>
          <p:cNvSpPr txBox="true"/>
          <p:nvPr/>
        </p:nvSpPr>
        <p:spPr>
          <a:xfrm rot="0">
            <a:off x="16591788" y="9608820"/>
            <a:ext cx="77724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3A4B41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246888"/>
            <a:chOff x="0" y="0"/>
            <a:chExt cx="24377904" cy="3291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329184"/>
            </a:xfrm>
            <a:custGeom>
              <a:avLst/>
              <a:gdLst/>
              <a:ahLst/>
              <a:cxnLst/>
              <a:rect r="r" b="b" t="t" l="l"/>
              <a:pathLst>
                <a:path h="329184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3A4B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46888"/>
            <a:ext cx="18283428" cy="68580"/>
            <a:chOff x="0" y="0"/>
            <a:chExt cx="24377904" cy="91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91440"/>
            </a:xfrm>
            <a:custGeom>
              <a:avLst/>
              <a:gdLst/>
              <a:ahLst/>
              <a:cxnLst/>
              <a:rect r="r" b="b" t="t" l="l"/>
              <a:pathLst>
                <a:path h="9144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CFA7"/>
            </a:solidFill>
          </p:spPr>
        </p:sp>
      </p:grpSp>
      <p:sp>
        <p:nvSpPr>
          <p:cNvPr name="AutoShape 6" id="6"/>
          <p:cNvSpPr/>
          <p:nvPr/>
        </p:nvSpPr>
        <p:spPr>
          <a:xfrm rot="3960">
            <a:off x="813425" y="9527857"/>
            <a:ext cx="16656568" cy="0"/>
          </a:xfrm>
          <a:prstGeom prst="line">
            <a:avLst/>
          </a:prstGeom>
          <a:ln cap="rnd" w="9525">
            <a:solidFill>
              <a:srgbClr val="E6CFA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822960" y="9601200"/>
            <a:ext cx="6858000" cy="411480"/>
            <a:chOff x="0" y="0"/>
            <a:chExt cx="91440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F85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ATM Transaction Simulator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685800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B886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 5  /  MODULE 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31520" y="947166"/>
            <a:ext cx="16637508" cy="1432179"/>
            <a:chOff x="0" y="0"/>
            <a:chExt cx="22183344" cy="19095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83344" cy="1909572"/>
            </a:xfrm>
            <a:custGeom>
              <a:avLst/>
              <a:gdLst/>
              <a:ahLst/>
              <a:cxnLst/>
              <a:rect r="r" b="b" t="t" l="l"/>
              <a:pathLst>
                <a:path h="1909572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909572"/>
                  </a:lnTo>
                  <a:lnTo>
                    <a:pt x="0" y="19095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442" r="0" b="-16226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2183344" cy="1919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>
                  <a:solidFill>
                    <a:srgbClr val="3A4B41"/>
                  </a:solidFill>
                  <a:latin typeface="Gagalin"/>
                  <a:ea typeface="Gagalin"/>
                  <a:cs typeface="Gagalin"/>
                  <a:sym typeface="Gagalin"/>
                </a:rPr>
                <a:t>CO 5  |  Strings, Algorithms &amp; File I/O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2194560"/>
            <a:ext cx="16459200" cy="548640"/>
            <a:chOff x="0" y="0"/>
            <a:chExt cx="219456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1945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6F85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Strings, Library Algorithms &amp; File I/O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822960" y="3017520"/>
          <a:ext cx="16611600" cy="5943600"/>
        </p:xfrm>
        <a:graphic>
          <a:graphicData uri="http://schemas.openxmlformats.org/drawingml/2006/table">
            <a:tbl>
              <a:tblPr/>
              <a:tblGrid>
                <a:gridCol w="1125877"/>
                <a:gridCol w="4934213"/>
                <a:gridCol w="10551509"/>
              </a:tblGrid>
              <a:tr h="581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b="true" sz="1950" spc="299">
                          <a:solidFill>
                            <a:srgbClr val="E6CFA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#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B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 spc="299">
                          <a:solidFill>
                            <a:srgbClr val="E6CFA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TOPIC USED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B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 spc="299">
                          <a:solidFill>
                            <a:srgbClr val="E6CFA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PURPOSE IN OUR CODE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B41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01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String operations &amp; validation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Trim search keywords, split saved records, check text content, and compare transaction types ignoring case.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02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Concatenation &amp; case conversion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Build transaction records and messages; demonstrate uppercase conversion and StringBuilder/StringBuffer.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03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Searching &amp; sorting algorithms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Filter history by transaction type, sort by amount, and binary-search sorted transaction amounts.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04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Comparable interface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Transaction.compareTo() compares transaction amounts for natural ordering.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05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Files, Path &amp; buffered writing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Append transaction type, amount, and resulting balance to transactions.txt.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06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Reading files &amp; exception handling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Check file existence, read records line by line or as streams, and handle I/O or malformed data.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</a:tr>
            </a:tbl>
          </a:graphicData>
        </a:graphic>
      </p:graphicFrame>
      <p:sp>
        <p:nvSpPr>
          <p:cNvPr name="TextBox 20" id="20"/>
          <p:cNvSpPr txBox="true"/>
          <p:nvPr/>
        </p:nvSpPr>
        <p:spPr>
          <a:xfrm rot="0">
            <a:off x="16591788" y="9608820"/>
            <a:ext cx="77724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3A4B41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246888"/>
            <a:chOff x="0" y="0"/>
            <a:chExt cx="24377904" cy="3291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329184"/>
            </a:xfrm>
            <a:custGeom>
              <a:avLst/>
              <a:gdLst/>
              <a:ahLst/>
              <a:cxnLst/>
              <a:rect r="r" b="b" t="t" l="l"/>
              <a:pathLst>
                <a:path h="329184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3A4B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46888"/>
            <a:ext cx="18283428" cy="68580"/>
            <a:chOff x="0" y="0"/>
            <a:chExt cx="24377904" cy="91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91440"/>
            </a:xfrm>
            <a:custGeom>
              <a:avLst/>
              <a:gdLst/>
              <a:ahLst/>
              <a:cxnLst/>
              <a:rect r="r" b="b" t="t" l="l"/>
              <a:pathLst>
                <a:path h="9144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CFA7"/>
            </a:solidFill>
          </p:spPr>
        </p:sp>
      </p:grpSp>
      <p:sp>
        <p:nvSpPr>
          <p:cNvPr name="AutoShape 6" id="6"/>
          <p:cNvSpPr/>
          <p:nvPr/>
        </p:nvSpPr>
        <p:spPr>
          <a:xfrm rot="3960">
            <a:off x="813425" y="9527857"/>
            <a:ext cx="16656568" cy="0"/>
          </a:xfrm>
          <a:prstGeom prst="line">
            <a:avLst/>
          </a:prstGeom>
          <a:ln cap="rnd" w="9525">
            <a:solidFill>
              <a:srgbClr val="E6CFA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822960" y="9601200"/>
            <a:ext cx="6858000" cy="411480"/>
            <a:chOff x="0" y="0"/>
            <a:chExt cx="91440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F85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ATM Transaction Simulator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685800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B886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 6  /  MODULE 6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7052" y="947166"/>
            <a:ext cx="16637508" cy="1432179"/>
            <a:chOff x="0" y="0"/>
            <a:chExt cx="22183344" cy="19095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83344" cy="1909572"/>
            </a:xfrm>
            <a:custGeom>
              <a:avLst/>
              <a:gdLst/>
              <a:ahLst/>
              <a:cxnLst/>
              <a:rect r="r" b="b" t="t" l="l"/>
              <a:pathLst>
                <a:path h="1909572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909572"/>
                  </a:lnTo>
                  <a:lnTo>
                    <a:pt x="0" y="19095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442" r="0" b="-16226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2183344" cy="1919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>
                  <a:solidFill>
                    <a:srgbClr val="3A4B41"/>
                  </a:solidFill>
                  <a:latin typeface="Gagalin"/>
                  <a:ea typeface="Gagalin"/>
                  <a:cs typeface="Gagalin"/>
                  <a:sym typeface="Gagalin"/>
                </a:rPr>
                <a:t>CO 6  |  Functional Programming &amp; Collections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2194560"/>
            <a:ext cx="16459200" cy="548640"/>
            <a:chOff x="0" y="0"/>
            <a:chExt cx="219456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1945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6F85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Functional Programming with Collections &amp; Streams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822960" y="3017520"/>
          <a:ext cx="16611600" cy="5943600"/>
        </p:xfrm>
        <a:graphic>
          <a:graphicData uri="http://schemas.openxmlformats.org/drawingml/2006/table">
            <a:tbl>
              <a:tblPr/>
              <a:tblGrid>
                <a:gridCol w="1125877"/>
                <a:gridCol w="4934213"/>
                <a:gridCol w="10551509"/>
              </a:tblGrid>
              <a:tr h="581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b="true" sz="1950" spc="299">
                          <a:solidFill>
                            <a:srgbClr val="E6CFA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#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B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 spc="299">
                          <a:solidFill>
                            <a:srgbClr val="E6CFA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TOPIC USED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B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 spc="299">
                          <a:solidFill>
                            <a:srgbClr val="E6CFA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PURPOSE IN OUR CODE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B41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01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ArrayList, HashMap &amp; HashSet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ArrayList stores history; HashMap counts transaction types; HashSet stores unique types.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02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Generics &amp; typed collections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Use typed collections such as ArrayList&lt;Transaction&gt;, HashMap&lt;String, Integer&gt;, and HashSet&lt;String&gt;.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03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Lambda expressions &amp; functional interfaces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Predicate filters transaction types; Function maps amounts; Supplier returns an ATM-ready message; Consumer displays output.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04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Method references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Use references such as System.out::println and Transaction::getAmount in stream operations.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05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Stream filter, map &amp; collect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Filter deposits, map transaction amounts, and collect grouped transaction counts.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4"/>
                    </a:solidFill>
                  </a:tcPr>
                </a:tc>
              </a:tr>
              <a:tr h="8936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B8864B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06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3A4B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Collectors &amp; file streams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6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Group transactions by type, join category names, and count saved records using file streams.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6CF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3C6"/>
                    </a:solidFill>
                  </a:tcPr>
                </a:tc>
              </a:tr>
            </a:tbl>
          </a:graphicData>
        </a:graphic>
      </p:graphicFrame>
      <p:sp>
        <p:nvSpPr>
          <p:cNvPr name="TextBox 20" id="20"/>
          <p:cNvSpPr txBox="true"/>
          <p:nvPr/>
        </p:nvSpPr>
        <p:spPr>
          <a:xfrm rot="0">
            <a:off x="16591788" y="9608820"/>
            <a:ext cx="77724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3A4B41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4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6888" cy="10287000"/>
            <a:chOff x="0" y="0"/>
            <a:chExt cx="32918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918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CFA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685800"/>
            <a:ext cx="12344400" cy="411480"/>
            <a:chOff x="0" y="0"/>
            <a:chExt cx="16459200" cy="548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E6CF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WRAP-UP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891540"/>
            <a:ext cx="16047720" cy="1432179"/>
            <a:chOff x="0" y="0"/>
            <a:chExt cx="21396960" cy="19095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396961" cy="1909572"/>
            </a:xfrm>
            <a:custGeom>
              <a:avLst/>
              <a:gdLst/>
              <a:ahLst/>
              <a:cxnLst/>
              <a:rect r="r" b="b" t="t" l="l"/>
              <a:pathLst>
                <a:path h="1909572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909572"/>
                  </a:lnTo>
                  <a:lnTo>
                    <a:pt x="0" y="19095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418" r="0" b="-15424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396960" cy="1919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>
                  <a:solidFill>
                    <a:srgbClr val="E6CFA7"/>
                  </a:solidFill>
                  <a:latin typeface="Gagalin"/>
                  <a:ea typeface="Gagalin"/>
                  <a:cs typeface="Gagalin"/>
                  <a:sym typeface="Gagalin"/>
                </a:rPr>
                <a:t>Conclusion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7280" y="2194560"/>
            <a:ext cx="16459200" cy="548640"/>
            <a:chOff x="0" y="0"/>
            <a:chExt cx="219456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1945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E6CFA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What the project demonstrates.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87755" y="3145155"/>
            <a:ext cx="7974330" cy="4271010"/>
            <a:chOff x="0" y="0"/>
            <a:chExt cx="10632440" cy="5694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32440" cy="5694680"/>
            </a:xfrm>
            <a:custGeom>
              <a:avLst/>
              <a:gdLst/>
              <a:ahLst/>
              <a:cxnLst/>
              <a:rect r="r" b="b" t="t" l="l"/>
              <a:pathLst>
                <a:path h="5694680" w="10632440">
                  <a:moveTo>
                    <a:pt x="0" y="0"/>
                  </a:moveTo>
                  <a:lnTo>
                    <a:pt x="10632440" y="0"/>
                  </a:lnTo>
                  <a:lnTo>
                    <a:pt x="10632440" y="5694680"/>
                  </a:lnTo>
                  <a:lnTo>
                    <a:pt x="0" y="5694680"/>
                  </a:lnTo>
                  <a:close/>
                </a:path>
              </a:pathLst>
            </a:custGeom>
            <a:solidFill>
              <a:srgbClr val="4C6054"/>
            </a:solidFill>
            <a:ln w="19050" cap="sq">
              <a:solidFill>
                <a:srgbClr val="4C6054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87755" y="3145155"/>
            <a:ext cx="142494" cy="4271010"/>
            <a:chOff x="0" y="0"/>
            <a:chExt cx="189992" cy="56946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9992" cy="5694680"/>
            </a:xfrm>
            <a:custGeom>
              <a:avLst/>
              <a:gdLst/>
              <a:ahLst/>
              <a:cxnLst/>
              <a:rect r="r" b="b" t="t" l="l"/>
              <a:pathLst>
                <a:path h="5694680" w="189992">
                  <a:moveTo>
                    <a:pt x="0" y="0"/>
                  </a:moveTo>
                  <a:lnTo>
                    <a:pt x="189992" y="0"/>
                  </a:lnTo>
                  <a:lnTo>
                    <a:pt x="189992" y="5694680"/>
                  </a:lnTo>
                  <a:lnTo>
                    <a:pt x="0" y="5694680"/>
                  </a:lnTo>
                  <a:close/>
                </a:path>
              </a:pathLst>
            </a:custGeom>
            <a:solidFill>
              <a:srgbClr val="E6CFA7"/>
            </a:solidFill>
            <a:ln w="19050" cap="sq">
              <a:solidFill>
                <a:srgbClr val="E6CFA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577340" y="3456432"/>
            <a:ext cx="7132320" cy="480060"/>
            <a:chOff x="0" y="0"/>
            <a:chExt cx="9509760" cy="640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09760" cy="640080"/>
            </a:xfrm>
            <a:custGeom>
              <a:avLst/>
              <a:gdLst/>
              <a:ahLst/>
              <a:cxnLst/>
              <a:rect r="r" b="b" t="t" l="l"/>
              <a:pathLst>
                <a:path h="6400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491" r="0" b="-23949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50976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E6CF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OUTCOME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577340" y="4057650"/>
            <a:ext cx="7063740" cy="3074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8F2E4"/>
                </a:solidFill>
                <a:latin typeface="Calibri (MS)"/>
                <a:ea typeface="Calibri (MS)"/>
                <a:cs typeface="Calibri (MS)"/>
                <a:sym typeface="Calibri (MS)"/>
              </a:rPr>
              <a:t>The simulator supports balance checking, deposits, withdrawals, transaction history, searching, sorting, reports, and file storage. It connects Java topics from six modules to a banking-style application.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385935" y="3145155"/>
            <a:ext cx="7837170" cy="4271010"/>
            <a:chOff x="0" y="0"/>
            <a:chExt cx="10449560" cy="5694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49560" cy="5694680"/>
            </a:xfrm>
            <a:custGeom>
              <a:avLst/>
              <a:gdLst/>
              <a:ahLst/>
              <a:cxnLst/>
              <a:rect r="r" b="b" t="t" l="l"/>
              <a:pathLst>
                <a:path h="5694680" w="10449560">
                  <a:moveTo>
                    <a:pt x="0" y="0"/>
                  </a:moveTo>
                  <a:lnTo>
                    <a:pt x="10449560" y="0"/>
                  </a:lnTo>
                  <a:lnTo>
                    <a:pt x="10449560" y="5694680"/>
                  </a:lnTo>
                  <a:lnTo>
                    <a:pt x="0" y="5694680"/>
                  </a:lnTo>
                  <a:close/>
                </a:path>
              </a:pathLst>
            </a:custGeom>
            <a:solidFill>
              <a:srgbClr val="4C6054"/>
            </a:solidFill>
            <a:ln w="19050" cap="sq">
              <a:solidFill>
                <a:srgbClr val="4C6054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385935" y="3145155"/>
            <a:ext cx="142494" cy="4271010"/>
            <a:chOff x="0" y="0"/>
            <a:chExt cx="189992" cy="5694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9992" cy="5694680"/>
            </a:xfrm>
            <a:custGeom>
              <a:avLst/>
              <a:gdLst/>
              <a:ahLst/>
              <a:cxnLst/>
              <a:rect r="r" b="b" t="t" l="l"/>
              <a:pathLst>
                <a:path h="5694680" w="189992">
                  <a:moveTo>
                    <a:pt x="0" y="0"/>
                  </a:moveTo>
                  <a:lnTo>
                    <a:pt x="189992" y="0"/>
                  </a:lnTo>
                  <a:lnTo>
                    <a:pt x="189992" y="5694680"/>
                  </a:lnTo>
                  <a:lnTo>
                    <a:pt x="0" y="5694680"/>
                  </a:lnTo>
                  <a:close/>
                </a:path>
              </a:pathLst>
            </a:custGeom>
            <a:solidFill>
              <a:srgbClr val="E6CFA7"/>
            </a:solidFill>
            <a:ln w="19050" cap="sq">
              <a:solidFill>
                <a:srgbClr val="E6CFA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875520" y="3456432"/>
            <a:ext cx="6995160" cy="480060"/>
            <a:chOff x="0" y="0"/>
            <a:chExt cx="9326880" cy="640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326880" cy="640080"/>
            </a:xfrm>
            <a:custGeom>
              <a:avLst/>
              <a:gdLst/>
              <a:ahLst/>
              <a:cxnLst/>
              <a:rect r="r" b="b" t="t" l="l"/>
              <a:pathLst>
                <a:path h="6400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3268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E6CF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POSSIBLE FUTURE IMPROVEMENTS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875520" y="4057650"/>
            <a:ext cx="6926580" cy="3074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8F2E4"/>
                </a:solidFill>
                <a:latin typeface="Calibri (MS)"/>
                <a:ea typeface="Calibri (MS)"/>
                <a:cs typeface="Calibri (MS)"/>
                <a:sym typeface="Calibri (MS)"/>
              </a:rPr>
              <a:t>Add PIN authentication, a graphical interface, account profiles, database storage, encrypted records, transaction limits, and downloadable statements.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87755" y="7808595"/>
            <a:ext cx="16135350" cy="1184910"/>
            <a:chOff x="0" y="0"/>
            <a:chExt cx="21513800" cy="1579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513800" cy="1579880"/>
            </a:xfrm>
            <a:custGeom>
              <a:avLst/>
              <a:gdLst/>
              <a:ahLst/>
              <a:cxnLst/>
              <a:rect r="r" b="b" t="t" l="l"/>
              <a:pathLst>
                <a:path h="1579880" w="21513800">
                  <a:moveTo>
                    <a:pt x="0" y="0"/>
                  </a:moveTo>
                  <a:lnTo>
                    <a:pt x="21513800" y="0"/>
                  </a:lnTo>
                  <a:lnTo>
                    <a:pt x="21513800" y="1579880"/>
                  </a:lnTo>
                  <a:lnTo>
                    <a:pt x="0" y="1579880"/>
                  </a:lnTo>
                  <a:close/>
                </a:path>
              </a:pathLst>
            </a:custGeom>
            <a:solidFill>
              <a:srgbClr val="E6CFA7"/>
            </a:solidFill>
            <a:ln w="19050" cap="sq">
              <a:solidFill>
                <a:srgbClr val="E6CFA7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097280" y="7818120"/>
            <a:ext cx="16116300" cy="1165860"/>
            <a:chOff x="0" y="0"/>
            <a:chExt cx="21488400" cy="15544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4884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488400">
                  <a:moveTo>
                    <a:pt x="0" y="0"/>
                  </a:moveTo>
                  <a:lnTo>
                    <a:pt x="21488400" y="0"/>
                  </a:lnTo>
                  <a:lnTo>
                    <a:pt x="21488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351" r="0" b="-21935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2148840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A4B41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Overall, the project applies core Java concepts to simulate banking transactions and organize account activity.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6687800" y="9540240"/>
            <a:ext cx="77724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E6CFA7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246888"/>
            <a:chOff x="0" y="0"/>
            <a:chExt cx="24377904" cy="3291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329184"/>
            </a:xfrm>
            <a:custGeom>
              <a:avLst/>
              <a:gdLst/>
              <a:ahLst/>
              <a:cxnLst/>
              <a:rect r="r" b="b" t="t" l="l"/>
              <a:pathLst>
                <a:path h="329184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3A4B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46888"/>
            <a:ext cx="18283428" cy="68580"/>
            <a:chOff x="0" y="0"/>
            <a:chExt cx="24377904" cy="91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91440"/>
            </a:xfrm>
            <a:custGeom>
              <a:avLst/>
              <a:gdLst/>
              <a:ahLst/>
              <a:cxnLst/>
              <a:rect r="r" b="b" t="t" l="l"/>
              <a:pathLst>
                <a:path h="9144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6CFA7"/>
            </a:solidFill>
          </p:spPr>
        </p:sp>
      </p:grpSp>
      <p:sp>
        <p:nvSpPr>
          <p:cNvPr name="AutoShape 6" id="6"/>
          <p:cNvSpPr/>
          <p:nvPr/>
        </p:nvSpPr>
        <p:spPr>
          <a:xfrm rot="3960">
            <a:off x="813425" y="9527857"/>
            <a:ext cx="16656568" cy="0"/>
          </a:xfrm>
          <a:prstGeom prst="line">
            <a:avLst/>
          </a:prstGeom>
          <a:ln cap="rnd" w="9525">
            <a:solidFill>
              <a:srgbClr val="E6CFA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822960" y="9601200"/>
            <a:ext cx="6858000" cy="411480"/>
            <a:chOff x="0" y="0"/>
            <a:chExt cx="91440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F85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ATM Transaction Simulator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685800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B886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EVIDENCE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32485" y="1028700"/>
            <a:ext cx="16637508" cy="1432179"/>
            <a:chOff x="0" y="0"/>
            <a:chExt cx="22183344" cy="19095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83344" cy="1909572"/>
            </a:xfrm>
            <a:custGeom>
              <a:avLst/>
              <a:gdLst/>
              <a:ahLst/>
              <a:cxnLst/>
              <a:rect r="r" b="b" t="t" l="l"/>
              <a:pathLst>
                <a:path h="1909572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909572"/>
                  </a:lnTo>
                  <a:lnTo>
                    <a:pt x="0" y="19095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442" r="0" b="-16226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2183344" cy="1919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>
                  <a:solidFill>
                    <a:srgbClr val="3A4B41"/>
                  </a:solidFill>
                  <a:latin typeface="Gagalin"/>
                  <a:ea typeface="Gagalin"/>
                  <a:cs typeface="Gagalin"/>
                  <a:sym typeface="Gagalin"/>
                </a:rPr>
                <a:t>Output Screenshots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493950" y="2674306"/>
            <a:ext cx="4933520" cy="5625724"/>
          </a:xfrm>
          <a:custGeom>
            <a:avLst/>
            <a:gdLst/>
            <a:ahLst/>
            <a:cxnLst/>
            <a:rect r="r" b="b" t="t" l="l"/>
            <a:pathLst>
              <a:path h="5625724" w="4933520">
                <a:moveTo>
                  <a:pt x="0" y="0"/>
                </a:moveTo>
                <a:lnTo>
                  <a:pt x="4933521" y="0"/>
                </a:lnTo>
                <a:lnTo>
                  <a:pt x="4933521" y="5625724"/>
                </a:lnTo>
                <a:lnTo>
                  <a:pt x="0" y="56257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591788" y="9608820"/>
            <a:ext cx="77724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3A4B41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960">
            <a:off x="813425" y="9527857"/>
            <a:ext cx="16656568" cy="0"/>
          </a:xfrm>
          <a:prstGeom prst="line">
            <a:avLst/>
          </a:prstGeom>
          <a:ln cap="rnd" w="9525">
            <a:solidFill>
              <a:srgbClr val="E6CFA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822960" y="9601200"/>
            <a:ext cx="6858000" cy="411480"/>
            <a:chOff x="0" y="0"/>
            <a:chExt cx="9144000" cy="5486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F85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ATM Transaction Simulator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22960" y="685800"/>
            <a:ext cx="12344400" cy="411480"/>
            <a:chOff x="0" y="0"/>
            <a:chExt cx="164592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843" r="0" b="-18184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B886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EVIDENCE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95003" y="537849"/>
            <a:ext cx="4055326" cy="5499688"/>
          </a:xfrm>
          <a:custGeom>
            <a:avLst/>
            <a:gdLst/>
            <a:ahLst/>
            <a:cxnLst/>
            <a:rect r="r" b="b" t="t" l="l"/>
            <a:pathLst>
              <a:path h="5499688" w="4055326">
                <a:moveTo>
                  <a:pt x="0" y="0"/>
                </a:moveTo>
                <a:lnTo>
                  <a:pt x="4055326" y="0"/>
                </a:lnTo>
                <a:lnTo>
                  <a:pt x="4055326" y="5499689"/>
                </a:lnTo>
                <a:lnTo>
                  <a:pt x="0" y="54996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95003" y="6411401"/>
            <a:ext cx="4978175" cy="1244544"/>
          </a:xfrm>
          <a:custGeom>
            <a:avLst/>
            <a:gdLst/>
            <a:ahLst/>
            <a:cxnLst/>
            <a:rect r="r" b="b" t="t" l="l"/>
            <a:pathLst>
              <a:path h="1244544" w="4978175">
                <a:moveTo>
                  <a:pt x="0" y="0"/>
                </a:moveTo>
                <a:lnTo>
                  <a:pt x="4978174" y="0"/>
                </a:lnTo>
                <a:lnTo>
                  <a:pt x="4978174" y="1244544"/>
                </a:lnTo>
                <a:lnTo>
                  <a:pt x="0" y="12445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95003" y="8027420"/>
            <a:ext cx="10962500" cy="1368346"/>
          </a:xfrm>
          <a:custGeom>
            <a:avLst/>
            <a:gdLst/>
            <a:ahLst/>
            <a:cxnLst/>
            <a:rect r="r" b="b" t="t" l="l"/>
            <a:pathLst>
              <a:path h="1368346" w="10962500">
                <a:moveTo>
                  <a:pt x="0" y="0"/>
                </a:moveTo>
                <a:lnTo>
                  <a:pt x="10962499" y="0"/>
                </a:lnTo>
                <a:lnTo>
                  <a:pt x="10962499" y="1368347"/>
                </a:lnTo>
                <a:lnTo>
                  <a:pt x="0" y="13683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473177" y="537849"/>
            <a:ext cx="10372125" cy="1603140"/>
          </a:xfrm>
          <a:custGeom>
            <a:avLst/>
            <a:gdLst/>
            <a:ahLst/>
            <a:cxnLst/>
            <a:rect r="r" b="b" t="t" l="l"/>
            <a:pathLst>
              <a:path h="1603140" w="10372125">
                <a:moveTo>
                  <a:pt x="0" y="0"/>
                </a:moveTo>
                <a:lnTo>
                  <a:pt x="10372125" y="0"/>
                </a:lnTo>
                <a:lnTo>
                  <a:pt x="10372125" y="1603141"/>
                </a:lnTo>
                <a:lnTo>
                  <a:pt x="0" y="16031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049626" y="2636468"/>
            <a:ext cx="7219227" cy="3188492"/>
          </a:xfrm>
          <a:custGeom>
            <a:avLst/>
            <a:gdLst/>
            <a:ahLst/>
            <a:cxnLst/>
            <a:rect r="r" b="b" t="t" l="l"/>
            <a:pathLst>
              <a:path h="3188492" w="7219227">
                <a:moveTo>
                  <a:pt x="0" y="0"/>
                </a:moveTo>
                <a:lnTo>
                  <a:pt x="7219228" y="0"/>
                </a:lnTo>
                <a:lnTo>
                  <a:pt x="7219228" y="3188492"/>
                </a:lnTo>
                <a:lnTo>
                  <a:pt x="0" y="31884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591788" y="9608820"/>
            <a:ext cx="77724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3A4B41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960">
            <a:off x="813425" y="9527857"/>
            <a:ext cx="16656568" cy="0"/>
          </a:xfrm>
          <a:prstGeom prst="line">
            <a:avLst/>
          </a:prstGeom>
          <a:ln cap="rnd" w="9525">
            <a:solidFill>
              <a:srgbClr val="E6CFA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822960" y="685800"/>
            <a:ext cx="12344400" cy="411480"/>
            <a:chOff x="0" y="0"/>
            <a:chExt cx="16459200" cy="5486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B886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EVIDENCE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13431" y="1470800"/>
            <a:ext cx="9329577" cy="2099155"/>
          </a:xfrm>
          <a:custGeom>
            <a:avLst/>
            <a:gdLst/>
            <a:ahLst/>
            <a:cxnLst/>
            <a:rect r="r" b="b" t="t" l="l"/>
            <a:pathLst>
              <a:path h="2099155" w="9329577">
                <a:moveTo>
                  <a:pt x="0" y="0"/>
                </a:moveTo>
                <a:lnTo>
                  <a:pt x="9329577" y="0"/>
                </a:lnTo>
                <a:lnTo>
                  <a:pt x="9329577" y="2099154"/>
                </a:lnTo>
                <a:lnTo>
                  <a:pt x="0" y="20991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2960" y="3946130"/>
            <a:ext cx="5606679" cy="1200026"/>
          </a:xfrm>
          <a:custGeom>
            <a:avLst/>
            <a:gdLst/>
            <a:ahLst/>
            <a:cxnLst/>
            <a:rect r="r" b="b" t="t" l="l"/>
            <a:pathLst>
              <a:path h="1200026" w="5606679">
                <a:moveTo>
                  <a:pt x="0" y="0"/>
                </a:moveTo>
                <a:lnTo>
                  <a:pt x="5606679" y="0"/>
                </a:lnTo>
                <a:lnTo>
                  <a:pt x="5606679" y="1200026"/>
                </a:lnTo>
                <a:lnTo>
                  <a:pt x="0" y="12000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3431" y="5517631"/>
            <a:ext cx="5737178" cy="1689280"/>
          </a:xfrm>
          <a:custGeom>
            <a:avLst/>
            <a:gdLst/>
            <a:ahLst/>
            <a:cxnLst/>
            <a:rect r="r" b="b" t="t" l="l"/>
            <a:pathLst>
              <a:path h="1689280" w="5737178">
                <a:moveTo>
                  <a:pt x="0" y="0"/>
                </a:moveTo>
                <a:lnTo>
                  <a:pt x="5737178" y="0"/>
                </a:lnTo>
                <a:lnTo>
                  <a:pt x="5737178" y="1689280"/>
                </a:lnTo>
                <a:lnTo>
                  <a:pt x="0" y="16892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13431" y="7578386"/>
            <a:ext cx="3599401" cy="2562925"/>
          </a:xfrm>
          <a:custGeom>
            <a:avLst/>
            <a:gdLst/>
            <a:ahLst/>
            <a:cxnLst/>
            <a:rect r="r" b="b" t="t" l="l"/>
            <a:pathLst>
              <a:path h="2562925" w="3599401">
                <a:moveTo>
                  <a:pt x="0" y="0"/>
                </a:moveTo>
                <a:lnTo>
                  <a:pt x="3599401" y="0"/>
                </a:lnTo>
                <a:lnTo>
                  <a:pt x="3599401" y="2562925"/>
                </a:lnTo>
                <a:lnTo>
                  <a:pt x="0" y="25629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160185" y="1470800"/>
            <a:ext cx="4620272" cy="1518323"/>
          </a:xfrm>
          <a:custGeom>
            <a:avLst/>
            <a:gdLst/>
            <a:ahLst/>
            <a:cxnLst/>
            <a:rect r="r" b="b" t="t" l="l"/>
            <a:pathLst>
              <a:path h="1518323" w="4620272">
                <a:moveTo>
                  <a:pt x="0" y="0"/>
                </a:moveTo>
                <a:lnTo>
                  <a:pt x="4620272" y="0"/>
                </a:lnTo>
                <a:lnTo>
                  <a:pt x="4620272" y="1518322"/>
                </a:lnTo>
                <a:lnTo>
                  <a:pt x="0" y="15183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160185" y="3360597"/>
            <a:ext cx="4502219" cy="1937664"/>
          </a:xfrm>
          <a:custGeom>
            <a:avLst/>
            <a:gdLst/>
            <a:ahLst/>
            <a:cxnLst/>
            <a:rect r="r" b="b" t="t" l="l"/>
            <a:pathLst>
              <a:path h="1937664" w="4502219">
                <a:moveTo>
                  <a:pt x="0" y="0"/>
                </a:moveTo>
                <a:lnTo>
                  <a:pt x="4502219" y="0"/>
                </a:lnTo>
                <a:lnTo>
                  <a:pt x="4502219" y="1937664"/>
                </a:lnTo>
                <a:lnTo>
                  <a:pt x="0" y="19376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123673" y="5669736"/>
            <a:ext cx="4538731" cy="741386"/>
          </a:xfrm>
          <a:custGeom>
            <a:avLst/>
            <a:gdLst/>
            <a:ahLst/>
            <a:cxnLst/>
            <a:rect r="r" b="b" t="t" l="l"/>
            <a:pathLst>
              <a:path h="741386" w="4538731">
                <a:moveTo>
                  <a:pt x="0" y="0"/>
                </a:moveTo>
                <a:lnTo>
                  <a:pt x="4538731" y="0"/>
                </a:lnTo>
                <a:lnTo>
                  <a:pt x="4538731" y="741387"/>
                </a:lnTo>
                <a:lnTo>
                  <a:pt x="0" y="7413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591788" y="9608820"/>
            <a:ext cx="77724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3A4B41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4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6888" cy="10287000"/>
            <a:chOff x="0" y="0"/>
            <a:chExt cx="32918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918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6CFA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685800"/>
            <a:ext cx="12344400" cy="411480"/>
            <a:chOff x="0" y="0"/>
            <a:chExt cx="16459200" cy="548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49">
                  <a:solidFill>
                    <a:srgbClr val="E6CF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SOURCE CODE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1165860"/>
            <a:ext cx="16047720" cy="1432179"/>
            <a:chOff x="0" y="0"/>
            <a:chExt cx="21396960" cy="19095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396961" cy="1909572"/>
            </a:xfrm>
            <a:custGeom>
              <a:avLst/>
              <a:gdLst/>
              <a:ahLst/>
              <a:cxnLst/>
              <a:rect r="r" b="b" t="t" l="l"/>
              <a:pathLst>
                <a:path h="1909572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909572"/>
                  </a:lnTo>
                  <a:lnTo>
                    <a:pt x="0" y="19095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418" r="0" b="-15424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396960" cy="1919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>
                  <a:solidFill>
                    <a:srgbClr val="E6CFA7"/>
                  </a:solidFill>
                  <a:latin typeface="Gagalin"/>
                  <a:ea typeface="Gagalin"/>
                  <a:cs typeface="Gagalin"/>
                  <a:sym typeface="Gagalin"/>
                </a:rPr>
                <a:t>GitHub Repository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87755" y="3282315"/>
            <a:ext cx="16135350" cy="2076450"/>
            <a:chOff x="0" y="0"/>
            <a:chExt cx="21513800" cy="2768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13800" cy="2768600"/>
            </a:xfrm>
            <a:custGeom>
              <a:avLst/>
              <a:gdLst/>
              <a:ahLst/>
              <a:cxnLst/>
              <a:rect r="r" b="b" t="t" l="l"/>
              <a:pathLst>
                <a:path h="2768600" w="21513800">
                  <a:moveTo>
                    <a:pt x="0" y="0"/>
                  </a:moveTo>
                  <a:lnTo>
                    <a:pt x="21513800" y="0"/>
                  </a:lnTo>
                  <a:lnTo>
                    <a:pt x="21513800" y="2768600"/>
                  </a:lnTo>
                  <a:lnTo>
                    <a:pt x="0" y="2768600"/>
                  </a:lnTo>
                  <a:close/>
                </a:path>
              </a:pathLst>
            </a:custGeom>
            <a:solidFill>
              <a:srgbClr val="4C6054"/>
            </a:solidFill>
            <a:ln w="19050" cap="sq">
              <a:solidFill>
                <a:srgbClr val="E6CFA7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3291840"/>
            <a:ext cx="16116300" cy="2057400"/>
            <a:chOff x="0" y="0"/>
            <a:chExt cx="21488400" cy="2743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884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1488400">
                  <a:moveTo>
                    <a:pt x="0" y="0"/>
                  </a:moveTo>
                  <a:lnTo>
                    <a:pt x="21488400" y="0"/>
                  </a:lnTo>
                  <a:lnTo>
                    <a:pt x="214884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488400" cy="2743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E6CFA7"/>
                  </a:solidFill>
                  <a:latin typeface="Georgia"/>
                  <a:ea typeface="Georgia"/>
                  <a:cs typeface="Georgia"/>
                  <a:sym typeface="Georgia"/>
                </a:rPr>
                <a:t>https://github.com/surepallilaasya/JAVA-project1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80" y="5760720"/>
            <a:ext cx="16116300" cy="548640"/>
            <a:chOff x="0" y="0"/>
            <a:chExt cx="2148840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48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88400">
                  <a:moveTo>
                    <a:pt x="0" y="0"/>
                  </a:moveTo>
                  <a:lnTo>
                    <a:pt x="21488400" y="0"/>
                  </a:lnTo>
                  <a:lnTo>
                    <a:pt x="2148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373" r="0" b="-52237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488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8F2E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source: ATM.java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687800" y="9540240"/>
            <a:ext cx="77724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E6CFA7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DAHYKCWQTXo</dc:identifier>
  <dcterms:modified xsi:type="dcterms:W3CDTF">2011-08-01T06:04:30Z</dcterms:modified>
  <cp:revision>1</cp:revision>
  <dc:title>ATM_Transaction_Simulator_Presentation (1).pptx</dc:title>
</cp:coreProperties>
</file>